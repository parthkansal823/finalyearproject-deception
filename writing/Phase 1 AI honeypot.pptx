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9"/>
  </p:notesMasterIdLst>
  <p:sldIdLst>
    <p:sldId id="408" r:id="rId3"/>
    <p:sldId id="257" r:id="rId4"/>
    <p:sldId id="258" r:id="rId5"/>
    <p:sldId id="260" r:id="rId6"/>
    <p:sldId id="261" r:id="rId7"/>
    <p:sldId id="262" r:id="rId8"/>
    <p:sldId id="409" r:id="rId9"/>
    <p:sldId id="263" r:id="rId10"/>
    <p:sldId id="264" r:id="rId11"/>
    <p:sldId id="410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ac87aa728_0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dac87aa728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C7EC97C-1069-0727-9DC1-07B0DE5B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>
            <a:extLst>
              <a:ext uri="{FF2B5EF4-FFF2-40B4-BE49-F238E27FC236}">
                <a16:creationId xmlns:a16="http://schemas.microsoft.com/office/drawing/2014/main" id="{5B595B84-93CE-92ED-7FCE-6B70BA1D8A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>
            <a:extLst>
              <a:ext uri="{FF2B5EF4-FFF2-40B4-BE49-F238E27FC236}">
                <a16:creationId xmlns:a16="http://schemas.microsoft.com/office/drawing/2014/main" id="{91A61B00-48E7-EFCF-8580-61E41E4795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0743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c87aa728_0_2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dac87aa728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A82DC0A4-C573-B09D-1CE2-48ACC662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c87aa728_0_230:notes">
            <a:extLst>
              <a:ext uri="{FF2B5EF4-FFF2-40B4-BE49-F238E27FC236}">
                <a16:creationId xmlns:a16="http://schemas.microsoft.com/office/drawing/2014/main" id="{302D83EF-E805-C1CE-2B4E-012F2CD79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dac87aa728_0_230:notes">
            <a:extLst>
              <a:ext uri="{FF2B5EF4-FFF2-40B4-BE49-F238E27FC236}">
                <a16:creationId xmlns:a16="http://schemas.microsoft.com/office/drawing/2014/main" id="{0799ACDB-4C11-88EC-30CA-2CA084E2F7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1766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ac87aa728_0_2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ac87aa72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ac87aa72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dac87aa7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-19050" y="0"/>
            <a:ext cx="12211050" cy="4438650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>
            <a:spLocks noGrp="1"/>
          </p:cNvSpPr>
          <p:nvPr>
            <p:ph type="pic" idx="2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60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66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6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07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44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49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45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574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68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910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765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6110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3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6053794"/>
            <a:ext cx="12192000" cy="439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700394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260121" y="1645245"/>
            <a:ext cx="7246736" cy="2624726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the partial fulfillment for the award of the degree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Engineering 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in Information Security (IBM)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5377" y="52577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 panose="02000506000000020004" pitchFamily="2" charset="0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Department of AIT-CSE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64411" y="443734"/>
            <a:ext cx="9728053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>
              <a:lnSpc>
                <a:spcPct val="90000"/>
              </a:lnSpc>
              <a:spcAft>
                <a:spcPct val="35000"/>
              </a:spcAft>
              <a:buClrTx/>
              <a:defRPr/>
            </a:pP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Active Deception Framework for Web-Attack Detection — Response-side Probes and State-Consistent Decoys</a:t>
            </a:r>
            <a:endParaRPr kumimoji="0" lang="en-US" sz="3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115" y="4317759"/>
            <a:ext cx="40985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Submitted by: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Parth Kansal -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23BIS70035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Amrit Singh Nijjar -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23BIS70062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Siddhant Mehta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-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23BIS70162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1782" y="4271593"/>
            <a:ext cx="3070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 the Supervision of: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s. Sheetal Laroiya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9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dirty="0"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838200" y="1588220"/>
            <a:ext cx="10515600" cy="495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to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Formulation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Objectives of the work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(firewalls, ML-based WAFs, honeypots) are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they wait for an attacker to generate enough evidence before acting.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system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manufactures evidence instead of waiting for 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when a visitor's intent is uncertain, it silently plants an invisible "bait" in the HTTP response (a fake DB error, an unused JSON field, a hint at a dead endpoint).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genuine user never sees or triggers it. An attacker probing raw responses acts on it — and self-identifies. They're then not blocked, but quietly diverted into a realistic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decoy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every action is logged.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engineering claim: this "bait" action isn't an arbitrary heuristic — it's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decision theory (Value of Information), so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deceive is derived from cost math, not tuned by hand.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today rely on three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types, and all three share the same core weakness: 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Signature firewalls / WAF rules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block known-bad patterns, but are bypassed by small pattern changes and are blind to logic flaws like IDOR (Insecure Direct Object Reference).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classifiers (statistical WAFs)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score traffic as malicious or benign, but need a lot of evidence to become confident, causing false positives on unusual-but-honest users.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Honeypots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fake systems left exposed to attract attackers, but sit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real site, so they only catch attackers who wander into them on their own.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shared flaw: all three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 wait for the attacker to generate evidence and can only guess until it arrives.</a:t>
            </a:r>
          </a:p>
          <a:p>
            <a:pPr marL="685800" indent="-457200">
              <a:spcBef>
                <a:spcPts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passivity forces an unavoidable trade-off: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weak evidence → genuine users get wrongly punished (false positives).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strong evidence → a careful, patient attacker gets a long head start before being caught.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threshold a defender tunes in such a system is really just a choice about which of these two failures they're willing to accept.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insight driving this project: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trade-off only exists because defenders treat evidence as something that arrives on its own. It doesn't have to — evidence can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cheaply, safely, and invisibly to genuine users.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research question: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 defender deliberately provoke a response that separates attackers from normal users, with zero observable effect on normal users — and is doing so actually cheaper, in a measurable economic sense, than passively waiting for evidence?</a:t>
            </a:r>
          </a:p>
          <a:p>
            <a:pPr marL="419100">
              <a:lnSpc>
                <a:spcPct val="115000"/>
              </a:lnSpc>
              <a:spcBef>
                <a:spcPts val="0"/>
              </a:spcBef>
              <a:buSzPts val="2400"/>
            </a:pP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an invisible, response-side probe can separate attacker sessions from benign sessions with no detectable impact on genuine users.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provoking reduces the number of requests needed to reach a confident decision, versus passive waiting (measured causally via a randomized holdout).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a generated decoy environment can remain internally consistent under repeated probing, so an attacker cannot detect the trap by inconsistency.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full economic cost of the approach (expected cost per session) against passive baselines, using an explicit, frozen cost table.</a:t>
            </a:r>
          </a:p>
          <a:p>
            <a:pPr marL="571500">
              <a:spcBef>
                <a:spcPts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72BBE173-06BC-CC1E-A894-674458255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05B81F58-02CC-60EE-E632-E34026233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20">
            <a:extLst>
              <a:ext uri="{FF2B5EF4-FFF2-40B4-BE49-F238E27FC236}">
                <a16:creationId xmlns:a16="http://schemas.microsoft.com/office/drawing/2014/main" id="{36820EE8-5957-D4F8-E147-9FE6E463E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 as a formal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decision option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(PASS / BAIT / DIVERT) instead of a binary allow/block.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two-axis suspicion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separating automation from hostility (so a benign bot ≠ a human attacker).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Cost-weighted thresholds derived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mathematically from stated error costs (Expected Value of Sample Information), not hand-tuned.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decoy with a persistent consistency layer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"Fact Notebook") — plus a measurable contradiction-rate metric.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public, labelled dataset of attack traffic, benign traffic, and bait interactions.</a:t>
            </a:r>
          </a:p>
          <a:p>
            <a:pPr marL="571500">
              <a:spcBef>
                <a:spcPts val="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58B52C60-8E19-AFB6-DC06-C6E2F853F2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47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deliberately vulnerable site (login, OTP, search, ID-addressed pages) — the thing under attack.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proxy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every request passes through this first; the real app never knows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exists.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converts each raw request into ~18 numeric features (timing, headers, SQL-keyword hits, error ratio, etc.).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suspicion meter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 only ML component: two logistic-regression heads tracking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scores per session.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policy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combines the two scores with the frozen cost table to choose PASS / BAIT / DIVERT.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selects and injects the invisible probe, watches for a "bite" (a later request touching the fake artifact).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Decoy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full-parity fake copy of the site, backed by the Fact Notebook (so it never contradicts itself) and a planted credential.</a:t>
            </a: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decision-theoretic core: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 is not a block — the request still reaches the real app; bait rides along in the response. So baiting costs exactly what letting the attacker through costs,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small residual risk.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"BAIT" band is not arbitrary — it's derived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Value of Sample Information (EVSI)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V(p) = min cost before probing − expected min cost after probing. Under pure cost accounting (no information value), the band is mathematically empty — there's no reason to ever choose a third action.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 effectiveness (β_attack, β_benign)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 empirically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dedicated calibration round, not assumed.</a:t>
            </a:r>
          </a:p>
          <a:p>
            <a:pPr marL="571500"/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FDECD412-B85A-D90C-B91F-108C3C40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>
            <a:extLst>
              <a:ext uri="{FF2B5EF4-FFF2-40B4-BE49-F238E27FC236}">
                <a16:creationId xmlns:a16="http://schemas.microsoft.com/office/drawing/2014/main" id="{3F794EAA-5087-C98A-83A3-6923F35CB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Google Shape;162;p22">
            <a:extLst>
              <a:ext uri="{FF2B5EF4-FFF2-40B4-BE49-F238E27FC236}">
                <a16:creationId xmlns:a16="http://schemas.microsoft.com/office/drawing/2014/main" id="{9F2F2EFA-A481-BE20-BC82-053DE4B9E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independent attack rounds (round 1 trains the meter, round 2 is the untouched test set — never mixed).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benign traffic generators: human-paced traffic (with deliberately awkward-but-honest personas) and automated-but-harmless agents — to disentangle "automated" from "hostile."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 compared: B1 (signature WAF, incl. real OWASP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CRS), B2 (passive ML meter only), B4 (full system with bait).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 seeded traffic draws per arm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(11,880 attack + 7,920 benign sessions per arm) for statistical power.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holdout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(withholding bait from a random subset at the same belief state) isolates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 of bait, not just correlation.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Append-only, hash-chained logging; frozen/hashed cost table and record schema so nothing can be silently retuned after seeing results.</a:t>
            </a:r>
          </a:p>
          <a:p>
            <a:pPr marL="571500"/>
            <a:endParaRPr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63" name="Google Shape;163;p22">
            <a:extLst>
              <a:ext uri="{FF2B5EF4-FFF2-40B4-BE49-F238E27FC236}">
                <a16:creationId xmlns:a16="http://schemas.microsoft.com/office/drawing/2014/main" id="{BC0451C9-AE73-87B4-5A2A-5C21AA5DFE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8042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fully automated, one-command corpus pipeline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tools.generate_corpus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wipes old data → seeds fresh target DB → runs all traffic generators → verifies labels — reproducible end to end.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corpus: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4,084 requests across 178 sessions,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labelled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unlabelled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split as 918 attack / 3,166 benign and 3,170 human-paced / 914 scripted requests.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separators validated in the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Asset-fetching cleanly separates humans from scripts: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1.27 vs 0.00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assets/page.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pause between actions far more than scripts: median think-time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1.51s (human) vs 0.057s (scripted)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Malice signal (DB-keyword hits) cleanly separates attack from benign: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16.0 vs 0.0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× Malice coverage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(justifies the two-axis suspicion model): benign-but-scripted (30 sessions) and attack-but-human (12 sessions) both exist — proving one combined score can't represent the data; two independent scores are needed.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11 automated dataset-validation checks passed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Phase 1 (benign corpus) and Phase 2 (attack round 1): sufficient sample size, all attack categories present, both automation classes represented, clean train/eval separation, zero missing labels.</a:t>
            </a: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Outputs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system (with bait) achieves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94.3% attack recall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up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88.9%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passive-only baseline — a statistically significant gain (paired McNemar, p = 1.9×10⁻⁹⁵).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Randomized holdout confirms the bait itself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improvement (not just correlated with it):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+7.0 percentage point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causal effect (95% CI 5.2–8.8), Fisher exact p = 3.4×10⁻¹⁹.</a:t>
            </a:r>
          </a:p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false positives: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7,920 benign sessions passed through safely, with none wrongly diverted to the decoy.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Decoy environment stayed fully consistent under probing — contradiction rate dropped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to 0%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once the Fact Notebook was introduced (tested over 286 probes).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recall gain is concentrated almost entirely 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object-reference (IDOR) attacks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exactly the attack category a signature-based WAF cannot detect at all.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Benchmarked against a real signature WAF (OWASP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ModSecurity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CRS): it only reaches full recall by blocking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of legitimate traffic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this system reaches higher recall 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benign impact.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at scale —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 seeded traffic draws per arm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(11,880 attack and 7,920 benign sessions per arm) — for statistical robustness, not a one-off run.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bait decision threshold is not arbitrarily tuned: it's mathematically derived from cost accounting (Expected Value of Information) and remains stable across the full plausible range of the one estimated parameter.</a:t>
            </a: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endParaRPr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Google Shape;18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web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force a lose-lose trade-off: act early on weak evidence and punish genuine users, or wait for strong evidence and give attackers a head start. This project breaks that trade-off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evidence instead of waiting for 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idea — silently planting an invisible probe when uncertain — is not an ad-hoc heuristic. It's proven to 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 justified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decision to deceive is derived from cost accounting (Expected Value of Information), and the "bait" action only exists within a specific, provable belief interval.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scale, across 99 seeded evaluation runs, the system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raises attack recall from 88.9% to 94.3%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causing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additional harm to genuine 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and a randomized holdout independently confirms the bait itself is the cause of the improvement, not a side effect.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gain is concentrated precisely where passive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weakest — object-reference (IDOR) attacks that no signature-based system can see — showing the approach fills a real, specific gap rather than duplicating existing detection.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 Notebook solves a long-standing weakness of fake/decoy environments — self-contradiction — bringing the decoy's contradiction rate from 100% down to 0%, making the deception itself credible under repeated probing.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together, the project delivers a working, reproducible, thoroughly tested system (358 automated tests, hash-frozen configs, full dataset validation) that demonstrates active deception can be a principled, safe, and measurably effective addition to web-attack detection — not just a novelty.</a:t>
            </a:r>
          </a:p>
          <a:p>
            <a:pPr marL="342900">
              <a:lnSpc>
                <a:spcPct val="115000"/>
              </a:lnSpc>
              <a:spcBef>
                <a:spcPts val="0"/>
              </a:spcBef>
              <a:buSzPts val="2400"/>
            </a:pPr>
            <a:endParaRPr sz="2400" dirty="0">
              <a:latin typeface="Times New Roman" panose="02020603050405020304" pitchFamily="18" charset="0"/>
              <a:ea typeface="Georgia"/>
              <a:cs typeface="Times New Roman" panose="02020603050405020304" pitchFamily="18" charset="0"/>
              <a:sym typeface="Georgia"/>
            </a:endParaRPr>
          </a:p>
        </p:txBody>
      </p:sp>
      <p:sp>
        <p:nvSpPr>
          <p:cNvPr id="184" name="Google Shape;1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validation: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against genuine production traffic and run an independent human red-team/deception study — the current deception assessment relies on an automated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fuzzer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self-assessment, not real human attackers.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 beyond one target: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 on a second, structurally different application (different framework, different object model) to confirm the approach's mechanism transfers, not just its concept.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adversary testing: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agentic LLM-attacker evaluation to larger, more capable models — the current test used only a small 1B-parameter model as a conservative lower bound.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beyond a single machine: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move from a single-machine lab deployment toward a distributed, internet-facing setup to test real-world load and latency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Richer decoy generation: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 the already-built LLM-backed decoy generator to the default option, once its trade-off between content richness and reproducibility is resolved.</a:t>
            </a:r>
          </a:p>
          <a:p>
            <a:pPr lvl="0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cost calibration: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the argued cost-table values with real incident/business data from an actual organization — the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bait strategy is already proven independent of this, but real numbers would sharpen its practical thresholds.</a:t>
            </a:r>
          </a:p>
          <a:p>
            <a:pPr marL="571500"/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1"/>
          </p:nvPr>
        </p:nvSpPr>
        <p:spPr>
          <a:xfrm>
            <a:off x="838200" y="1546224"/>
            <a:ext cx="10515600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Almeshekah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H. Spafford, "Planning and Integrating Deception into Computer Security Defenses," NSPW 2014.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Han, N. Kheir, D.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Balzarotti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"Deception Techniques in Computer Security: A Research Perspective," ACM Computing Surveys, 2018.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Pawlick, E. Colbert, Q. Zhu, "A Game-theoretic Taxonomy and Survey of Defensive Deception," ACM Computing Surveys, 2019.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Provos, "A Virtual Honeypot Framework," USENIX Security 2004.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Juels, R. L. Rivest, "Honeywords: Making Password-Cracking Detectable," ACM CCS 2013.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Kruegel, G. Vigna, "Anomaly Detection of Web-based Attacks," ACM CCS 2003.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A. Howard, "Information Value Theory," IEEE Trans. Systems Science and Cybernetics, 1966.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EVSI theory underlying the bait-pricing model)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Elkan, "The Foundations of Cost-Sensitive Learning," IJCAI 2001.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Axelsson, "The Base-Rate Fallacy and the Difficulty of Intrusion Detection," ACM TISSEC, 2000.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J. Ferguson-Walter et al., "Examining the Efficacy of Decoy-based and Psychological Cyber Deception," USENIX Security 2021.</a:t>
            </a:r>
          </a:p>
          <a:p>
            <a:pPr marL="571500">
              <a:buFont typeface="+mj-lt"/>
              <a:buAutoNum type="arabicPeriod"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Google Shape;19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body" idx="1"/>
          </p:nvPr>
        </p:nvSpPr>
        <p:spPr>
          <a:xfrm>
            <a:off x="533400" y="1299608"/>
            <a:ext cx="10515600" cy="5421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Vetterl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Clayton, "Bitter Harvest: Systematically Fingerprinting Low- and Medium-interaction Honeypots at Internet Scale," USENIX WOOT 2018.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Sladić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Valeros, C. Catania, S. Garcia, "LLM in the Shell: Generative Honeypots," IEEE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EuroS&amp;PW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Yuill, M. Zappe, D. Denning, 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Honeyfiles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Deceptive Files for Intrusion Detection," IEEE SMC Information Assurance Workshop 2004.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M. Bowen, S. Hershkop, A. D.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Keromytis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J. Stolfo, "Baiting Inside Attackers Using Decoy Documents,"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SecureComm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2009.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Kahlhofer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Rass, "Application Layer Cyber Deception Without Developer Interaction," IEEE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EuroS&amp;PW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Workshop) 2024.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Kahlhofer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Achleitner, S. Rass, R. Mayrhofer,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Honeyquest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Rapidly Measuring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Enticingness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Cyber Deception Techniques with Code-based Questionnaires," RAID 2024.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Robertson, G. Vigna, C. Kruegel, R. A. Kemmerer, "Using Generalization and Characterization Techniques in the Anomaly-based Detection of Web Attacks," NDSS 2006.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Pawlick, E. Colbert, Q. Zhu, "Modeling and Analysis of Leaky Deception Using Signaling Games with Evidence," IEEE Trans. Information Forensics and Security, 2019.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Sommer, V. Paxson, "Outside the Closed World: On Using Machine Learning for Network Intrusion Detection," IEEE Symposium on Security and Privacy, 2010.</a:t>
            </a:r>
          </a:p>
          <a:p>
            <a:pPr lvl="0"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Arp, E. Quiring, F. Pendlebury, A. Warnecke, 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Pierazzi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Wressnegger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Cavallaro, K. Rieck, "Dos and Don'ts of Machine Learning in Computer Security," USENIX Security 2022.</a:t>
            </a:r>
          </a:p>
          <a:p>
            <a:pPr marL="22860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Google Shape;20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2698</Words>
  <Application>Microsoft Office PowerPoint</Application>
  <PresentationFormat>Widescreen</PresentationFormat>
  <Paragraphs>139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Casper</vt:lpstr>
      <vt:lpstr>Georgia</vt:lpstr>
      <vt:lpstr>Calibri</vt:lpstr>
      <vt:lpstr>Times New Roman</vt:lpstr>
      <vt:lpstr>Calibri Light</vt:lpstr>
      <vt:lpstr>1_Office Theme</vt:lpstr>
      <vt:lpstr>2_Office Theme</vt:lpstr>
      <vt:lpstr>PowerPoint Presentation</vt:lpstr>
      <vt:lpstr>Outline</vt:lpstr>
      <vt:lpstr>Introduction to Project</vt:lpstr>
      <vt:lpstr>Problem Formulation</vt:lpstr>
      <vt:lpstr>Problem Formulation</vt:lpstr>
      <vt:lpstr>Objectives of the Work</vt:lpstr>
      <vt:lpstr>Objectives of the Work</vt:lpstr>
      <vt:lpstr>Methodology used</vt:lpstr>
      <vt:lpstr>Methodology used</vt:lpstr>
      <vt:lpstr>Methodology used</vt:lpstr>
      <vt:lpstr>Results and Outputs</vt:lpstr>
      <vt:lpstr>Results and Outputs</vt:lpstr>
      <vt:lpstr>Conclusion</vt:lpstr>
      <vt:lpstr>Future Scope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Siddhant</dc:creator>
  <cp:lastModifiedBy>siddhant mehta</cp:lastModifiedBy>
  <cp:revision>2</cp:revision>
  <dcterms:modified xsi:type="dcterms:W3CDTF">2026-08-19T15:49:38Z</dcterms:modified>
</cp:coreProperties>
</file>